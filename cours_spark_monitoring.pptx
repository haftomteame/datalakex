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DE COURS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 &amp; Monitoring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ce que fait un cluster, et savoir le prouver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66928" y="3291840"/>
            <a:ext cx="502920" cy="50292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3273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234440" y="3538728"/>
            <a:ext cx="457200" cy="0"/>
          </a:xfrm>
          <a:prstGeom prst="line">
            <a:avLst/>
          </a:prstGeom>
          <a:noFill/>
          <a:ln w="27940">
            <a:solidFill>
              <a:srgbClr val="51648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828800" y="329184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3273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496312" y="3538728"/>
            <a:ext cx="457200" cy="0"/>
          </a:xfrm>
          <a:prstGeom prst="line">
            <a:avLst/>
          </a:prstGeom>
          <a:noFill/>
          <a:ln w="27940">
            <a:solidFill>
              <a:srgbClr val="51648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090672" y="32918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090672" y="3273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3736" y="3886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calcul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35608" y="3886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mémoire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97480" y="3886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l'écran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526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Big Data · IPSSI · Monitoring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plateforme data type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6675120" cy="603504"/>
          </a:xfrm>
          <a:prstGeom prst="roundRect">
            <a:avLst>
              <a:gd name="adj" fmla="val 10606"/>
            </a:avLst>
          </a:prstGeom>
          <a:solidFill>
            <a:srgbClr val="E8ECF2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0972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011680" y="10972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bulk · API REST · scraping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794760" y="1609344"/>
            <a:ext cx="0" cy="146304"/>
          </a:xfrm>
          <a:prstGeom prst="line">
            <a:avLst/>
          </a:prstGeom>
          <a:noFill/>
          <a:ln w="27940">
            <a:solidFill>
              <a:srgbClr val="5B6B8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57200" y="1755648"/>
            <a:ext cx="6675120" cy="603504"/>
          </a:xfrm>
          <a:prstGeom prst="roundRect">
            <a:avLst>
              <a:gd name="adj" fmla="val 10606"/>
            </a:avLst>
          </a:prstGeom>
          <a:solidFill>
            <a:srgbClr val="F9E7D4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184708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11680" y="184708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brutes : HDFS / stockage objet + NoSQL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794760" y="2359152"/>
            <a:ext cx="0" cy="146304"/>
          </a:xfrm>
          <a:prstGeom prst="line">
            <a:avLst/>
          </a:prstGeom>
          <a:noFill/>
          <a:ln w="27940">
            <a:solidFill>
              <a:srgbClr val="5B6B8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" y="2505456"/>
            <a:ext cx="6675120" cy="603504"/>
          </a:xfrm>
          <a:prstGeom prst="roundRect">
            <a:avLst>
              <a:gd name="adj" fmla="val 10606"/>
            </a:avLst>
          </a:prstGeom>
          <a:solidFill>
            <a:srgbClr val="DCE9F5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2596896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011680" y="259689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nettoyé · standardisé · jointures entre sources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794760" y="3108960"/>
            <a:ext cx="0" cy="146304"/>
          </a:xfrm>
          <a:prstGeom prst="line">
            <a:avLst/>
          </a:prstGeom>
          <a:noFill/>
          <a:ln w="27940">
            <a:solidFill>
              <a:srgbClr val="5B6B8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7200" y="3255264"/>
            <a:ext cx="6675120" cy="603504"/>
          </a:xfrm>
          <a:prstGeom prst="roundRect">
            <a:avLst>
              <a:gd name="adj" fmla="val 10606"/>
            </a:avLst>
          </a:prstGeom>
          <a:solidFill>
            <a:srgbClr val="FCF3D7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3346704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011680" y="334670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agrégats métier : 1 document par entité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794760" y="3858768"/>
            <a:ext cx="0" cy="146304"/>
          </a:xfrm>
          <a:prstGeom prst="line">
            <a:avLst/>
          </a:prstGeom>
          <a:noFill/>
          <a:ln w="27940">
            <a:solidFill>
              <a:srgbClr val="5B6B8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57200" y="4005072"/>
            <a:ext cx="6675120" cy="603504"/>
          </a:xfrm>
          <a:prstGeom prst="roundRect">
            <a:avLst>
              <a:gd name="adj" fmla="val 10606"/>
            </a:avLst>
          </a:prstGeom>
          <a:solidFill>
            <a:srgbClr val="DFF0E4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" y="409651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011680" y="409651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+ frontend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406640" y="1755648"/>
            <a:ext cx="1280160" cy="2249424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406640" y="1828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79792" y="2194560"/>
            <a:ext cx="11338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distribué entre les couches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406640" y="4151376"/>
            <a:ext cx="1280160" cy="603504"/>
          </a:xfrm>
          <a:prstGeom prst="roundRect">
            <a:avLst>
              <a:gd name="adj" fmla="val 10606"/>
            </a:avLst>
          </a:prstGeom>
          <a:solidFill>
            <a:srgbClr val="065A82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406640" y="4151376"/>
            <a:ext cx="1280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09360" y="48280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IPSSI · Big Data · Monitoring ·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parties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15184" cy="3017520"/>
          </a:xfrm>
          <a:prstGeom prst="roundRect">
            <a:avLst>
              <a:gd name="adj" fmla="val 2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17320"/>
            <a:ext cx="457200" cy="45720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99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13232" y="251460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driver, master, executors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 vs actions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partitions et shuffle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les logs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19272" y="1188720"/>
            <a:ext cx="2615184" cy="3017520"/>
          </a:xfrm>
          <a:prstGeom prst="roundRect">
            <a:avLst>
              <a:gd name="adj" fmla="val 2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47872" y="141732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3547872" y="1399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47872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75304" y="251460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cAdvisor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counter, gauge, rate()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81344" y="1188720"/>
            <a:ext cx="2615184" cy="3017520"/>
          </a:xfrm>
          <a:prstGeom prst="roundRect">
            <a:avLst>
              <a:gd name="adj" fmla="val 2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9944" y="14173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9944" y="1399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9944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37376" y="251460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UI vs Grafana vs logs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un run complet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48280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IPSSI · Big Data · Monitoring ·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</a:t>
            </a:r>
            <a:endParaRPr lang="en-US" sz="4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· SPARK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L'architecture d'un cluster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1B2A4A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71600"/>
            <a:ext cx="18288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script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065A82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651760"/>
            <a:ext cx="18288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alloue les ressources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77440" y="1801368"/>
            <a:ext cx="685800" cy="0"/>
          </a:xfrm>
          <a:prstGeom prst="line">
            <a:avLst/>
          </a:prstGeom>
          <a:noFill/>
          <a:ln w="27940">
            <a:solidFill>
              <a:srgbClr val="5B6B8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200400" y="1371600"/>
            <a:ext cx="1645920" cy="868680"/>
          </a:xfrm>
          <a:prstGeom prst="roundRect">
            <a:avLst>
              <a:gd name="adj" fmla="val 6316"/>
            </a:avLst>
          </a:prstGeom>
          <a:solidFill>
            <a:srgbClr val="E8590C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371600"/>
            <a:ext cx="16459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1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cœurs · n Go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0" y="1371600"/>
            <a:ext cx="1645920" cy="868680"/>
          </a:xfrm>
          <a:prstGeom prst="roundRect">
            <a:avLst>
              <a:gd name="adj" fmla="val 6316"/>
            </a:avLst>
          </a:prstGeom>
          <a:solidFill>
            <a:srgbClr val="E8590C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0" y="1371600"/>
            <a:ext cx="16459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2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cœurs · n Go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0" y="2423160"/>
            <a:ext cx="1645920" cy="868680"/>
          </a:xfrm>
          <a:prstGeom prst="roundRect">
            <a:avLst>
              <a:gd name="adj" fmla="val 6316"/>
            </a:avLst>
          </a:prstGeom>
          <a:solidFill>
            <a:srgbClr val="E8590C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0" y="2423160"/>
            <a:ext cx="16459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3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cœurs · n Go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2423160"/>
            <a:ext cx="1645920" cy="868680"/>
          </a:xfrm>
          <a:prstGeom prst="roundRect">
            <a:avLst>
              <a:gd name="adj" fmla="val 6316"/>
            </a:avLst>
          </a:prstGeom>
          <a:solidFill>
            <a:srgbClr val="E8590C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0" y="2423160"/>
            <a:ext cx="16459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4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cœurs · n Go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2240280"/>
            <a:ext cx="0" cy="411480"/>
          </a:xfrm>
          <a:prstGeom prst="line">
            <a:avLst/>
          </a:prstGeom>
          <a:noFill/>
          <a:ln w="27940">
            <a:solidFill>
              <a:srgbClr val="5B6B8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040880" y="1371600"/>
            <a:ext cx="1645920" cy="1920240"/>
          </a:xfrm>
          <a:prstGeom prst="roundRect">
            <a:avLst>
              <a:gd name="adj" fmla="val 3333"/>
            </a:avLst>
          </a:prstGeom>
          <a:solidFill>
            <a:srgbClr val="223558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040880" y="1371600"/>
            <a:ext cx="164592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de données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partagé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66560" y="2331720"/>
            <a:ext cx="274320" cy="0"/>
          </a:xfrm>
          <a:prstGeom prst="line">
            <a:avLst/>
          </a:prstGeom>
          <a:noFill/>
          <a:ln w="27940">
            <a:solidFill>
              <a:srgbClr val="5B6B84"/>
            </a:solidFill>
            <a:prstDash val="solid"/>
            <a:headEnd type="triangl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driver construit le plan et distribue les tâches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master attribue les executors aux applications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executors exécutent les tâches et lisent la donnée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309360" y="48280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IPSSI · Big Data · Monitoring ·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· SPARK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Vocabulaire : executor, partition, stage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615184" cy="3246120"/>
          </a:xfrm>
          <a:prstGeom prst="roundRect">
            <a:avLst>
              <a:gd name="adj" fmla="val 2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3258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221284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Processus JVM lancé sur un worker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Dispose de n cœurs et n Go de mémoire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Exécute les tasks qu'on lui envoie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 ses fichiers de shuffle sur son disque local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19272" y="1143000"/>
            <a:ext cx="2615184" cy="3246120"/>
          </a:xfrm>
          <a:prstGeom prst="roundRect">
            <a:avLst>
              <a:gd name="adj" fmla="val 2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0440" y="13258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547872" y="1783080"/>
            <a:ext cx="221284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morceau du DataFrame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partition = 1 task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lecture : définie par les fichiers (blocs de 128 Mo)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un shuffle : définie par hash(clé)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81344" y="1143000"/>
            <a:ext cx="2615184" cy="3246120"/>
          </a:xfrm>
          <a:prstGeom prst="roundRect">
            <a:avLst>
              <a:gd name="adj" fmla="val 2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82512" y="13258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09944" y="1783080"/>
            <a:ext cx="221284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de tasks exécutables sans échange réseau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frontières entre stages = les shuffles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job (une action) = 1 à n stages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dans la Spark UI, onglet Stages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309360" y="48280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IPSSI · Big Data · Monitoring ·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· SPARK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Transformation, action : définitions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3108960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280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3232" y="164592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Décrit une opération sur un DataFrame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Retourne un nouveau DataFrame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N'exécute rien (évaluation lazy)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select, where, groupBy, orderBy, join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3108960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280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19472" y="164592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un résultat concret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 l'exécution du plan complet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action relance le plan depuis les fichiers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count, collect, show, write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complet sur la slide suivante : un word count.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309360" y="48280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IPSSI · Big Data · Monitoring ·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· SPARK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Exemple : word count sur 100 fichiers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212080" cy="3429000"/>
          </a:xfrm>
          <a:prstGeom prst="roundRect">
            <a:avLst>
              <a:gd name="adj" fmla="val 1600"/>
            </a:avLst>
          </a:prstGeom>
          <a:solidFill>
            <a:srgbClr val="10192E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143000"/>
            <a:ext cx="4882896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spark.read.text("data/*.txt")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transformation · 100 fichiers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words = df.select(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explode(split(col("value"), " ")))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transformation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counts = words.groupBy("col").count()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transformation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counts.count()      # ACTION 1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counts.collect()    # ACTION 2</a:t>
            </a:r>
            <a:endParaRPr lang="en-US" sz="1150" dirty="0"/>
          </a:p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counts.write.csv()  # ACTION 3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897880" y="1051560"/>
            <a:ext cx="2788920" cy="3429000"/>
          </a:xfrm>
          <a:prstGeom prst="roundRect">
            <a:avLst>
              <a:gd name="adj" fmla="val 2295"/>
            </a:avLst>
          </a:prstGeom>
          <a:solidFill>
            <a:srgbClr val="EDF3F7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26480" y="1234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44768" y="160020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transformations : 0 exécution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actions : 3 exécutions du plan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100 fichiers lus 3 fois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: cache() ou une seule action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309360" y="48280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IPSSI · Big Data · Monitoring ·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· SPARK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parcours de la donnée pendant une action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17043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880360" y="1170432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fichiers = 100 partitions, réparties sur les executors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1792224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8366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1865376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(local)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880360" y="186537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executor découpe SES lignes en mots, sans réseau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2487168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2578608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25603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880360" y="256032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mot est envoyé vers l'executor responsable de sa clé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3182112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273552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255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3255264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Agrégation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2880360" y="3255264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executor compte les mots qu'il a reçus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" y="3877056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3968496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395020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2880360" y="3950208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 le driver (collect) ou vers le disque (write)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309360" y="48280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IPSSI · Big Data · Monitoring ·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· SPARK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Partitions : le grain du parallélisme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fichiers .gz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19456" cy="21945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463040"/>
            <a:ext cx="219456" cy="21945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1463040"/>
            <a:ext cx="219456" cy="21945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1463040"/>
            <a:ext cx="219456" cy="21945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Shape 7"/>
          <p:cNvSpPr/>
          <p:nvPr/>
        </p:nvSpPr>
        <p:spPr>
          <a:xfrm>
            <a:off x="1554480" y="1463040"/>
            <a:ext cx="219456" cy="21945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Shape 8"/>
          <p:cNvSpPr/>
          <p:nvPr/>
        </p:nvSpPr>
        <p:spPr>
          <a:xfrm>
            <a:off x="1828800" y="1463040"/>
            <a:ext cx="219456" cy="21945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Shape 9"/>
          <p:cNvSpPr/>
          <p:nvPr/>
        </p:nvSpPr>
        <p:spPr>
          <a:xfrm>
            <a:off x="2103120" y="1463040"/>
            <a:ext cx="219456" cy="21945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Shape 10"/>
          <p:cNvSpPr/>
          <p:nvPr/>
        </p:nvSpPr>
        <p:spPr>
          <a:xfrm>
            <a:off x="2377440" y="1463040"/>
            <a:ext cx="219456" cy="21945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1737360"/>
            <a:ext cx="219456" cy="21945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1737360"/>
            <a:ext cx="219456" cy="21945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" y="1737360"/>
            <a:ext cx="219456" cy="21945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Shape 14"/>
          <p:cNvSpPr/>
          <p:nvPr/>
        </p:nvSpPr>
        <p:spPr>
          <a:xfrm>
            <a:off x="1280160" y="1737360"/>
            <a:ext cx="219456" cy="21945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Shape 15"/>
          <p:cNvSpPr/>
          <p:nvPr/>
        </p:nvSpPr>
        <p:spPr>
          <a:xfrm>
            <a:off x="1554480" y="1737360"/>
            <a:ext cx="219456" cy="21945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Shape 16"/>
          <p:cNvSpPr/>
          <p:nvPr/>
        </p:nvSpPr>
        <p:spPr>
          <a:xfrm>
            <a:off x="1828800" y="1737360"/>
            <a:ext cx="219456" cy="21945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Shape 17"/>
          <p:cNvSpPr/>
          <p:nvPr/>
        </p:nvSpPr>
        <p:spPr>
          <a:xfrm>
            <a:off x="2103120" y="1737360"/>
            <a:ext cx="219456" cy="21945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0" name="Shape 18"/>
          <p:cNvSpPr/>
          <p:nvPr/>
        </p:nvSpPr>
        <p:spPr>
          <a:xfrm>
            <a:off x="2377440" y="1737360"/>
            <a:ext cx="219456" cy="21945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2011680"/>
            <a:ext cx="219456" cy="21945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2011680"/>
            <a:ext cx="219456" cy="21945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5840" y="2011680"/>
            <a:ext cx="219456" cy="21945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4" name="Shape 22"/>
          <p:cNvSpPr/>
          <p:nvPr/>
        </p:nvSpPr>
        <p:spPr>
          <a:xfrm>
            <a:off x="1280160" y="2011680"/>
            <a:ext cx="219456" cy="21945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5" name="Shape 23"/>
          <p:cNvSpPr/>
          <p:nvPr/>
        </p:nvSpPr>
        <p:spPr>
          <a:xfrm>
            <a:off x="1554480" y="2011680"/>
            <a:ext cx="219456" cy="21945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6" name="Shape 24"/>
          <p:cNvSpPr/>
          <p:nvPr/>
        </p:nvSpPr>
        <p:spPr>
          <a:xfrm>
            <a:off x="1828800" y="2011680"/>
            <a:ext cx="219456" cy="21945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7" name="Shape 25"/>
          <p:cNvSpPr/>
          <p:nvPr/>
        </p:nvSpPr>
        <p:spPr>
          <a:xfrm>
            <a:off x="2103120" y="2011680"/>
            <a:ext cx="219456" cy="21945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8" name="Shape 26"/>
          <p:cNvSpPr/>
          <p:nvPr/>
        </p:nvSpPr>
        <p:spPr>
          <a:xfrm>
            <a:off x="2377440" y="2011680"/>
            <a:ext cx="219456" cy="21945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2286000"/>
            <a:ext cx="219456" cy="21945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0" name="Shape 28"/>
          <p:cNvSpPr/>
          <p:nvPr/>
        </p:nvSpPr>
        <p:spPr>
          <a:xfrm>
            <a:off x="731520" y="2286000"/>
            <a:ext cx="219456" cy="21945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1" name="Shape 29"/>
          <p:cNvSpPr/>
          <p:nvPr/>
        </p:nvSpPr>
        <p:spPr>
          <a:xfrm>
            <a:off x="1005840" y="2286000"/>
            <a:ext cx="219456" cy="21945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2" name="Shape 30"/>
          <p:cNvSpPr/>
          <p:nvPr/>
        </p:nvSpPr>
        <p:spPr>
          <a:xfrm>
            <a:off x="1280160" y="2286000"/>
            <a:ext cx="219456" cy="21945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3" name="Shape 31"/>
          <p:cNvSpPr/>
          <p:nvPr/>
        </p:nvSpPr>
        <p:spPr>
          <a:xfrm>
            <a:off x="1554480" y="2286000"/>
            <a:ext cx="219456" cy="21945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2286000"/>
            <a:ext cx="219456" cy="21945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5" name="Shape 33"/>
          <p:cNvSpPr/>
          <p:nvPr/>
        </p:nvSpPr>
        <p:spPr>
          <a:xfrm>
            <a:off x="2103120" y="2286000"/>
            <a:ext cx="219456" cy="21945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6" name="Shape 34"/>
          <p:cNvSpPr/>
          <p:nvPr/>
        </p:nvSpPr>
        <p:spPr>
          <a:xfrm>
            <a:off x="2377440" y="2286000"/>
            <a:ext cx="219456" cy="21945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" y="2560320"/>
            <a:ext cx="219456" cy="21945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8" name="Shape 36"/>
          <p:cNvSpPr/>
          <p:nvPr/>
        </p:nvSpPr>
        <p:spPr>
          <a:xfrm>
            <a:off x="731520" y="2560320"/>
            <a:ext cx="219456" cy="21945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9" name="Shape 37"/>
          <p:cNvSpPr/>
          <p:nvPr/>
        </p:nvSpPr>
        <p:spPr>
          <a:xfrm>
            <a:off x="1005840" y="2560320"/>
            <a:ext cx="219456" cy="21945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0" name="Shape 38"/>
          <p:cNvSpPr/>
          <p:nvPr/>
        </p:nvSpPr>
        <p:spPr>
          <a:xfrm>
            <a:off x="1280160" y="2560320"/>
            <a:ext cx="219456" cy="21945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1" name="Shape 39"/>
          <p:cNvSpPr/>
          <p:nvPr/>
        </p:nvSpPr>
        <p:spPr>
          <a:xfrm>
            <a:off x="1554480" y="2560320"/>
            <a:ext cx="219456" cy="21945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2" name="Shape 40"/>
          <p:cNvSpPr/>
          <p:nvPr/>
        </p:nvSpPr>
        <p:spPr>
          <a:xfrm>
            <a:off x="1828800" y="2560320"/>
            <a:ext cx="219456" cy="21945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3" name="Shape 41"/>
          <p:cNvSpPr/>
          <p:nvPr/>
        </p:nvSpPr>
        <p:spPr>
          <a:xfrm>
            <a:off x="2103120" y="2560320"/>
            <a:ext cx="219456" cy="21945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4" name="Shape 42"/>
          <p:cNvSpPr/>
          <p:nvPr/>
        </p:nvSpPr>
        <p:spPr>
          <a:xfrm>
            <a:off x="2377440" y="2560320"/>
            <a:ext cx="219456" cy="21945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5" name="Shape 43"/>
          <p:cNvSpPr/>
          <p:nvPr/>
        </p:nvSpPr>
        <p:spPr>
          <a:xfrm>
            <a:off x="457200" y="2834640"/>
            <a:ext cx="219456" cy="21945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6" name="Shape 44"/>
          <p:cNvSpPr/>
          <p:nvPr/>
        </p:nvSpPr>
        <p:spPr>
          <a:xfrm>
            <a:off x="731520" y="2834640"/>
            <a:ext cx="219456" cy="21945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7" name="Shape 45"/>
          <p:cNvSpPr/>
          <p:nvPr/>
        </p:nvSpPr>
        <p:spPr>
          <a:xfrm>
            <a:off x="1005840" y="2834640"/>
            <a:ext cx="219456" cy="21945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8" name="Shape 46"/>
          <p:cNvSpPr/>
          <p:nvPr/>
        </p:nvSpPr>
        <p:spPr>
          <a:xfrm>
            <a:off x="1280160" y="2834640"/>
            <a:ext cx="219456" cy="21945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9" name="Shape 47"/>
          <p:cNvSpPr/>
          <p:nvPr/>
        </p:nvSpPr>
        <p:spPr>
          <a:xfrm>
            <a:off x="1554480" y="2834640"/>
            <a:ext cx="219456" cy="21945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0" name="Shape 48"/>
          <p:cNvSpPr/>
          <p:nvPr/>
        </p:nvSpPr>
        <p:spPr>
          <a:xfrm>
            <a:off x="1828800" y="2834640"/>
            <a:ext cx="219456" cy="21945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1" name="Shape 49"/>
          <p:cNvSpPr/>
          <p:nvPr/>
        </p:nvSpPr>
        <p:spPr>
          <a:xfrm>
            <a:off x="2103120" y="2834640"/>
            <a:ext cx="219456" cy="21945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2" name="Shape 50"/>
          <p:cNvSpPr/>
          <p:nvPr/>
        </p:nvSpPr>
        <p:spPr>
          <a:xfrm>
            <a:off x="2377440" y="2834640"/>
            <a:ext cx="219456" cy="21945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3" name="Shape 51"/>
          <p:cNvSpPr/>
          <p:nvPr/>
        </p:nvSpPr>
        <p:spPr>
          <a:xfrm>
            <a:off x="2880360" y="2194560"/>
            <a:ext cx="548640" cy="0"/>
          </a:xfrm>
          <a:prstGeom prst="line">
            <a:avLst/>
          </a:prstGeom>
          <a:noFill/>
          <a:ln w="27940">
            <a:solidFill>
              <a:srgbClr val="5B6B84"/>
            </a:solidFill>
            <a:prstDash val="solid"/>
            <a:tailEnd type="triangle"/>
          </a:ln>
        </p:spPr>
      </p:sp>
      <p:sp>
        <p:nvSpPr>
          <p:cNvPr id="54" name="Text 52"/>
          <p:cNvSpPr/>
          <p:nvPr/>
        </p:nvSpPr>
        <p:spPr>
          <a:xfrm>
            <a:off x="3520440" y="1143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partitions (128 Mo)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3520440" y="1463040"/>
            <a:ext cx="384048" cy="256032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56" name="Shape 54"/>
          <p:cNvSpPr/>
          <p:nvPr/>
        </p:nvSpPr>
        <p:spPr>
          <a:xfrm>
            <a:off x="3977640" y="1463040"/>
            <a:ext cx="384048" cy="256032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57" name="Shape 55"/>
          <p:cNvSpPr/>
          <p:nvPr/>
        </p:nvSpPr>
        <p:spPr>
          <a:xfrm>
            <a:off x="4434840" y="1463040"/>
            <a:ext cx="384048" cy="256032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58" name="Shape 56"/>
          <p:cNvSpPr/>
          <p:nvPr/>
        </p:nvSpPr>
        <p:spPr>
          <a:xfrm>
            <a:off x="4892040" y="1463040"/>
            <a:ext cx="384048" cy="256032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59" name="Shape 57"/>
          <p:cNvSpPr/>
          <p:nvPr/>
        </p:nvSpPr>
        <p:spPr>
          <a:xfrm>
            <a:off x="5349240" y="1463040"/>
            <a:ext cx="384048" cy="256032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60" name="Shape 58"/>
          <p:cNvSpPr/>
          <p:nvPr/>
        </p:nvSpPr>
        <p:spPr>
          <a:xfrm>
            <a:off x="3520440" y="1792224"/>
            <a:ext cx="384048" cy="256032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61" name="Shape 59"/>
          <p:cNvSpPr/>
          <p:nvPr/>
        </p:nvSpPr>
        <p:spPr>
          <a:xfrm>
            <a:off x="3977640" y="1792224"/>
            <a:ext cx="384048" cy="256032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62" name="Shape 60"/>
          <p:cNvSpPr/>
          <p:nvPr/>
        </p:nvSpPr>
        <p:spPr>
          <a:xfrm>
            <a:off x="4434840" y="1792224"/>
            <a:ext cx="384048" cy="256032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63" name="Shape 61"/>
          <p:cNvSpPr/>
          <p:nvPr/>
        </p:nvSpPr>
        <p:spPr>
          <a:xfrm>
            <a:off x="4892040" y="1792224"/>
            <a:ext cx="384048" cy="256032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64" name="Shape 62"/>
          <p:cNvSpPr/>
          <p:nvPr/>
        </p:nvSpPr>
        <p:spPr>
          <a:xfrm>
            <a:off x="5349240" y="1792224"/>
            <a:ext cx="384048" cy="256032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65" name="Shape 63"/>
          <p:cNvSpPr/>
          <p:nvPr/>
        </p:nvSpPr>
        <p:spPr>
          <a:xfrm>
            <a:off x="3520440" y="2121408"/>
            <a:ext cx="384048" cy="256032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66" name="Shape 64"/>
          <p:cNvSpPr/>
          <p:nvPr/>
        </p:nvSpPr>
        <p:spPr>
          <a:xfrm>
            <a:off x="3977640" y="2121408"/>
            <a:ext cx="384048" cy="256032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67" name="Shape 65"/>
          <p:cNvSpPr/>
          <p:nvPr/>
        </p:nvSpPr>
        <p:spPr>
          <a:xfrm>
            <a:off x="4434840" y="2121408"/>
            <a:ext cx="384048" cy="256032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68" name="Shape 66"/>
          <p:cNvSpPr/>
          <p:nvPr/>
        </p:nvSpPr>
        <p:spPr>
          <a:xfrm>
            <a:off x="4892040" y="2121408"/>
            <a:ext cx="384048" cy="256032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69" name="Shape 67"/>
          <p:cNvSpPr/>
          <p:nvPr/>
        </p:nvSpPr>
        <p:spPr>
          <a:xfrm>
            <a:off x="5349240" y="2121408"/>
            <a:ext cx="384048" cy="256032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70" name="Shape 68"/>
          <p:cNvSpPr/>
          <p:nvPr/>
        </p:nvSpPr>
        <p:spPr>
          <a:xfrm>
            <a:off x="3520440" y="2450592"/>
            <a:ext cx="384048" cy="256032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71" name="Shape 69"/>
          <p:cNvSpPr/>
          <p:nvPr/>
        </p:nvSpPr>
        <p:spPr>
          <a:xfrm>
            <a:off x="3977640" y="2450592"/>
            <a:ext cx="384048" cy="256032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72" name="Shape 70"/>
          <p:cNvSpPr/>
          <p:nvPr/>
        </p:nvSpPr>
        <p:spPr>
          <a:xfrm>
            <a:off x="4434840" y="2450592"/>
            <a:ext cx="384048" cy="256032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73" name="Shape 71"/>
          <p:cNvSpPr/>
          <p:nvPr/>
        </p:nvSpPr>
        <p:spPr>
          <a:xfrm>
            <a:off x="4892040" y="2450592"/>
            <a:ext cx="384048" cy="256032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74" name="Shape 72"/>
          <p:cNvSpPr/>
          <p:nvPr/>
        </p:nvSpPr>
        <p:spPr>
          <a:xfrm>
            <a:off x="5349240" y="2450592"/>
            <a:ext cx="384048" cy="256032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75" name="Shape 73"/>
          <p:cNvSpPr/>
          <p:nvPr/>
        </p:nvSpPr>
        <p:spPr>
          <a:xfrm>
            <a:off x="3520440" y="2779776"/>
            <a:ext cx="384048" cy="256032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76" name="Shape 74"/>
          <p:cNvSpPr/>
          <p:nvPr/>
        </p:nvSpPr>
        <p:spPr>
          <a:xfrm>
            <a:off x="3977640" y="2779776"/>
            <a:ext cx="384048" cy="256032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77" name="Shape 75"/>
          <p:cNvSpPr/>
          <p:nvPr/>
        </p:nvSpPr>
        <p:spPr>
          <a:xfrm>
            <a:off x="4434840" y="2779776"/>
            <a:ext cx="384048" cy="256032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78" name="Shape 76"/>
          <p:cNvSpPr/>
          <p:nvPr/>
        </p:nvSpPr>
        <p:spPr>
          <a:xfrm>
            <a:off x="4892040" y="2779776"/>
            <a:ext cx="384048" cy="256032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79" name="Shape 77"/>
          <p:cNvSpPr/>
          <p:nvPr/>
        </p:nvSpPr>
        <p:spPr>
          <a:xfrm>
            <a:off x="5349240" y="2779776"/>
            <a:ext cx="384048" cy="256032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80" name="Shape 78"/>
          <p:cNvSpPr/>
          <p:nvPr/>
        </p:nvSpPr>
        <p:spPr>
          <a:xfrm>
            <a:off x="6080760" y="2194560"/>
            <a:ext cx="548640" cy="0"/>
          </a:xfrm>
          <a:prstGeom prst="line">
            <a:avLst/>
          </a:prstGeom>
          <a:noFill/>
          <a:ln w="27940">
            <a:solidFill>
              <a:srgbClr val="5B6B84"/>
            </a:solidFill>
            <a:prstDash val="solid"/>
            <a:tailEnd type="triangle"/>
          </a:ln>
        </p:spPr>
      </p:sp>
      <p:sp>
        <p:nvSpPr>
          <p:cNvPr id="81" name="Text 79"/>
          <p:cNvSpPr/>
          <p:nvPr/>
        </p:nvSpPr>
        <p:spPr>
          <a:xfrm>
            <a:off x="6720840" y="1143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cœurs : vagues de 8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6720840" y="1463040"/>
            <a:ext cx="384048" cy="3840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3" name="Shape 81"/>
          <p:cNvSpPr/>
          <p:nvPr/>
        </p:nvSpPr>
        <p:spPr>
          <a:xfrm>
            <a:off x="7178040" y="1463040"/>
            <a:ext cx="384048" cy="3840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4" name="Shape 82"/>
          <p:cNvSpPr/>
          <p:nvPr/>
        </p:nvSpPr>
        <p:spPr>
          <a:xfrm>
            <a:off x="7635240" y="1463040"/>
            <a:ext cx="384048" cy="3840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5" name="Shape 83"/>
          <p:cNvSpPr/>
          <p:nvPr/>
        </p:nvSpPr>
        <p:spPr>
          <a:xfrm>
            <a:off x="8092440" y="1463040"/>
            <a:ext cx="384048" cy="3840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6" name="Shape 84"/>
          <p:cNvSpPr/>
          <p:nvPr/>
        </p:nvSpPr>
        <p:spPr>
          <a:xfrm>
            <a:off x="6720840" y="1920240"/>
            <a:ext cx="384048" cy="3840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7" name="Shape 85"/>
          <p:cNvSpPr/>
          <p:nvPr/>
        </p:nvSpPr>
        <p:spPr>
          <a:xfrm>
            <a:off x="7178040" y="1920240"/>
            <a:ext cx="384048" cy="3840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8" name="Shape 86"/>
          <p:cNvSpPr/>
          <p:nvPr/>
        </p:nvSpPr>
        <p:spPr>
          <a:xfrm>
            <a:off x="7635240" y="1920240"/>
            <a:ext cx="384048" cy="3840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9" name="Shape 87"/>
          <p:cNvSpPr/>
          <p:nvPr/>
        </p:nvSpPr>
        <p:spPr>
          <a:xfrm>
            <a:off x="8092440" y="1920240"/>
            <a:ext cx="384048" cy="3840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0" name="Text 88"/>
          <p:cNvSpPr/>
          <p:nvPr/>
        </p:nvSpPr>
        <p:spPr>
          <a:xfrm>
            <a:off x="6720840" y="2514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tasks / 8 cœurs = 4 vagues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457200" y="35204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partition = 1 task. Spark regroupe les petits fichiers par blocs de 128 Mo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fichier gzip ne peut pas être découpé : le parallélisme vient du nombre de fichiers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découpables : Parquet, bz2. Peu de partitions = cœurs inactifs</a:t>
            </a:r>
            <a:endParaRPr lang="en-US" sz="1350" dirty="0"/>
          </a:p>
        </p:txBody>
      </p:sp>
      <p:sp>
        <p:nvSpPr>
          <p:cNvPr id="92" name="Text 90"/>
          <p:cNvSpPr/>
          <p:nvPr/>
        </p:nvSpPr>
        <p:spPr>
          <a:xfrm>
            <a:off x="6309360" y="48280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IPSSI · Big Data · Monitoring ·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· SPARK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shuffle : regrouper les clés par le réseau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: chaque executor a des morceaux de tout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749040" cy="502920"/>
          </a:xfrm>
          <a:prstGeom prst="roundRect">
            <a:avLst>
              <a:gd name="adj" fmla="val 12727"/>
            </a:avLst>
          </a:prstGeom>
          <a:solidFill>
            <a:srgbClr val="EDF3F7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1417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E1 · chat, chien, chat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93392"/>
            <a:ext cx="3749040" cy="502920"/>
          </a:xfrm>
          <a:prstGeom prst="roundRect">
            <a:avLst>
              <a:gd name="adj" fmla="val 12727"/>
            </a:avLst>
          </a:prstGeom>
          <a:solidFill>
            <a:srgbClr val="EDF3F7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" y="203911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E2 · chien, chat, oiseau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15184"/>
            <a:ext cx="3749040" cy="502920"/>
          </a:xfrm>
          <a:prstGeom prst="roundRect">
            <a:avLst>
              <a:gd name="adj" fmla="val 12727"/>
            </a:avLst>
          </a:prstGeom>
          <a:solidFill>
            <a:srgbClr val="EDF3F7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" y="266090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E3 · chat, oiseau, chien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2194560"/>
            <a:ext cx="502920" cy="0"/>
          </a:xfrm>
          <a:prstGeom prst="line">
            <a:avLst/>
          </a:prstGeom>
          <a:noFill/>
          <a:ln w="27940">
            <a:solidFill>
              <a:srgbClr val="E8590C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983480" y="1051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: chaque clé a un seul destinataire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83480" y="1371600"/>
            <a:ext cx="370332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84648" y="1417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E1 · chat, chat, chat, chat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83480" y="1993392"/>
            <a:ext cx="370332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184648" y="203911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E2 · chien, chien, chien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83480" y="2615184"/>
            <a:ext cx="370332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184648" y="266090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E3 · oiseau, oiseau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4290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Mécanique : chaque executor écrit ses données triées par clé sur son disque (shuffle write), puis chaque executor va chercher SA part chez tous les autres, par le réseau (shuffle read)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: sérialisation + disque + réseau. C'est l'étape la plus chère d'un job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Conséquence : filtrer AVANT le groupBy. Le volume shufflé = le volume qui survit aux filtres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48280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IPSSI · Big Data · Monitoring ·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· SPARK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métriques d'une task (onglet Stages)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343400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2618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mesure chaque colonne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62763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 </a:t>
            </a:r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total de la task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2157984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Time  </a:t>
            </a:r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pauses du garbage collector JVM, incluses dans Duration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2688336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Size / Records  </a:t>
            </a:r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octets lus (décompressés) et nombre de lignes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321868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 Write  </a:t>
            </a:r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octets et lignes écrits sur le disque local, à destination des autres executors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5800" y="374904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Locality  </a:t>
            </a:r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PROCESS_LOCAL : la donnée est lue là où la task tourne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983480" y="1097280"/>
            <a:ext cx="3703320" cy="3291840"/>
          </a:xfrm>
          <a:prstGeom prst="roundRect">
            <a:avLst>
              <a:gd name="adj" fmla="val 1944"/>
            </a:avLst>
          </a:prstGeom>
          <a:solidFill>
            <a:srgbClr val="EDF3F7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212080" y="12618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les valeurs diffèrent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30368" y="1645920"/>
            <a:ext cx="3246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partitions ne sont pas égales : le regroupement par blocs de 128 Mo produit des tailles variées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suit Input Size : une task 2x plus grosse dure 2x plus longtemps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lance les grosses partitions en premier pour limiter la traîne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: une task 10x au-dessus des autres = clé déséquilibrée (skew)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 Write très inférieur à Input = la pré-agrégation locale a réduit la donnée avant le réseau.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48280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IPSSI · Big Data · Monitoring ·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· SPARK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Lire les logs (1) : job, stage, task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965960"/>
          </a:xfrm>
          <a:prstGeom prst="roundRect">
            <a:avLst>
              <a:gd name="adj" fmla="val 2791"/>
            </a:avLst>
          </a:prstGeom>
          <a:solidFill>
            <a:srgbClr val="10192E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143000"/>
            <a:ext cx="790041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DAGScheduler: Got job 3 with 25 output partitions</a:t>
            </a:r>
            <a:endParaRPr lang="en-US" sz="1200" dirty="0"/>
          </a:p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DAGScheduler: Submitting ShuffleMapStage 4</a:t>
            </a:r>
            <a:endParaRPr lang="en-US" sz="1200" dirty="0"/>
          </a:p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TaskSetManager: Starting task 7.0 in stage 4.0 (executor 2)</a:t>
            </a:r>
            <a:endParaRPr lang="en-US" sz="1200" dirty="0"/>
          </a:p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TaskSetManager: Finished task 7.0 in 23164 ms (5/25)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3246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45920" y="324612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créé par chaque action (count, collect, write)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749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45920" y="37490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découpage du job aux frontières de shuffle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42519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45920" y="425196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stage appliqué à UNE partition, sur un executor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9360" y="48280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IPSSI · Big Data · Monitoring ·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· SPARK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Lire les logs (2) : signal et bruit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3200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280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: à lire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13232" y="164592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 répétés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task / Resubmitting : un executor a perdu une tâche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task 10x plus lente que les autres : donnée déséquilibrée (skew)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OutOfMemoryError : executor sous-dimensionné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3200400"/>
          </a:xfrm>
          <a:prstGeom prst="roundRect">
            <a:avLst>
              <a:gd name="adj" fmla="val 2000"/>
            </a:avLst>
          </a:prstGeom>
          <a:solidFill>
            <a:srgbClr val="EDF3F7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280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BRUIT : à ignorer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19472" y="164592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BlockManager / MemoryStore : gestion mémoire interne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broadcast_N : envoi du plan compilé aux executors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SecurityManager, Jetty : initialisation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ShutdownHookManager : nettoyage de fin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309360" y="48280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IPSSI · Big Data · Monitoring ·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</a:t>
            </a:r>
            <a:endParaRPr lang="en-US" sz="4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· MONITORING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outils déjà en place, et leurs limites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615184" cy="3200400"/>
          </a:xfrm>
          <a:prstGeom prst="roundRect">
            <a:avLst>
              <a:gd name="adj" fmla="val 2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325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UI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jobs, stages, tasks, DAG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par executor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shufflés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4040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58368" y="33832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disparaît avec l'application (History Server pour l'archive)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19272" y="1143000"/>
            <a:ext cx="2615184" cy="3200400"/>
          </a:xfrm>
          <a:prstGeom prst="roundRect">
            <a:avLst>
              <a:gd name="adj" fmla="val 2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1325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stats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47872" y="173736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RAM, réseau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conteneur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instantané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520440" y="33832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historique, aucune requête, aucune alerte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81344" y="1143000"/>
            <a:ext cx="2615184" cy="3200400"/>
          </a:xfrm>
          <a:prstGeom prst="roundRect">
            <a:avLst>
              <a:gd name="adj" fmla="val 2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82512" y="1325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9944" y="173736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événement, ligne à ligne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exhaustifs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82512" y="33832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vue temporelle, corrélation difficile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manque un composant qui collecte, horodate et conserve les mesures.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309360" y="48280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IPSSI · Big Data · Monitoring ·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· MONITORING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chaîne de monitoring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223558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71600"/>
            <a:ext cx="173736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noyau Linux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cgroups : CPU/RAM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conteneur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69748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223558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697480"/>
            <a:ext cx="173736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master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interne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:8080/metrics/…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88920" y="1371600"/>
            <a:ext cx="1554480" cy="9144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88920" y="1371600"/>
            <a:ext cx="155448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cAdvisor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:8085/metrics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40280" y="1828800"/>
            <a:ext cx="502920" cy="0"/>
          </a:xfrm>
          <a:prstGeom prst="line">
            <a:avLst/>
          </a:prstGeom>
          <a:noFill/>
          <a:ln w="27940">
            <a:solidFill>
              <a:srgbClr val="5B6B8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983480" y="1371600"/>
            <a:ext cx="1691640" cy="1143000"/>
          </a:xfrm>
          <a:prstGeom prst="roundRect">
            <a:avLst>
              <a:gd name="adj" fmla="val 4800"/>
            </a:avLst>
          </a:prstGeom>
          <a:solidFill>
            <a:srgbClr val="C0392B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83480" y="1371600"/>
            <a:ext cx="169164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:9090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10 s + stockage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0" y="1828800"/>
            <a:ext cx="548640" cy="0"/>
          </a:xfrm>
          <a:prstGeom prst="line">
            <a:avLst/>
          </a:prstGeom>
          <a:noFill/>
          <a:ln w="27940">
            <a:solidFill>
              <a:srgbClr val="5B6B8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269480" y="1371600"/>
            <a:ext cx="1463040" cy="1143000"/>
          </a:xfrm>
          <a:prstGeom prst="roundRect">
            <a:avLst>
              <a:gd name="adj" fmla="val 48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69480" y="1371600"/>
            <a:ext cx="146304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:3000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20840" y="1828800"/>
            <a:ext cx="502920" cy="0"/>
          </a:xfrm>
          <a:prstGeom prst="line">
            <a:avLst/>
          </a:prstGeom>
          <a:noFill/>
          <a:ln w="27940">
            <a:solidFill>
              <a:srgbClr val="5B6B8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240280" y="3154680"/>
            <a:ext cx="3566160" cy="0"/>
          </a:xfrm>
          <a:prstGeom prst="line">
            <a:avLst/>
          </a:prstGeom>
          <a:noFill/>
          <a:ln w="27940">
            <a:solidFill>
              <a:srgbClr val="5B6B8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06440" y="3154680"/>
            <a:ext cx="0" cy="-594360"/>
          </a:xfrm>
          <a:prstGeom prst="line">
            <a:avLst/>
          </a:prstGeom>
          <a:noFill/>
          <a:ln w="27940">
            <a:solidFill>
              <a:srgbClr val="5B6B84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capteurs mesurent, Prometheus collecte et archive, Grafana interroge et affiche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48280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IPSSI · Big Data · Monitoring ·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· MONITORING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cAdvisor : les conteneurs en métriques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32588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Advisor (Google)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 la comptabilité tenue par le noyau pour chaque cgroup (/sys/fs/cgroup)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Découvre automatiquement chaque conteneur, sans configuration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CPU, RAM, réseau, disque par conteneur sur /metrics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des métriques container_*{name="..."}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291840"/>
          </a:xfrm>
          <a:prstGeom prst="roundRect">
            <a:avLst>
              <a:gd name="adj" fmla="val 1944"/>
            </a:avLst>
          </a:prstGeom>
          <a:solidFill>
            <a:srgbClr val="EDF3F7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92040" y="1280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exporters : un par composant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892040" y="1737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cAdvisor  </a:t>
            </a:r>
            <a:pPr indent="0" marL="0"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conteneurs Docker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92040" y="2194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node-exporter  </a:t>
            </a:r>
            <a:pPr indent="0" marL="0"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machine hôte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92040" y="2651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mongodb-exporter  </a:t>
            </a:r>
            <a:pPr indent="0" marL="0"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MongoDB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3108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PrometheusServlet  </a:t>
            </a:r>
            <a:pPr indent="0" marL="0"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Spark (natif)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36576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exporter traduit l'état interne d'un composant au format Prometheus.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309360" y="48280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IPSSI · Big Data · Monitoring · 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· MONITORING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Prometheus : collecte et stockage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28016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2801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91840" y="12344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10 s, GET /metrics sur chaque cible du fichier prometheus.yml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2296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214884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21488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21031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série = nom + labels · container_cpu…{name="worker-2"}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82296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" y="301752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30175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29718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 (timestamp, valeur) dans sa base de séries temporelles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82296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" y="388620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38862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À LA LECTURE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91840" y="38404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rate(), sum()… évalués au moment de la requête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309360" y="48280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IPSSI · Big Data · Monitoring · 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· MONITORING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types de métriques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246888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280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164592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 : ne fait que monter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secondes CPU, octets, erreurs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affiché brut : toujours rate()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246888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280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19472" y="164592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courante : monte et descend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utilisée, workers vivants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S'affiche telle quelle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8229600" cy="914400"/>
          </a:xfrm>
          <a:prstGeom prst="roundRect">
            <a:avLst>
              <a:gd name="adj" fmla="val 7000"/>
            </a:avLst>
          </a:prstGeom>
          <a:solidFill>
            <a:srgbClr val="EDF3F7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38862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rate(counter[1m])</a:t>
            </a:r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variation par seconde entre deux relevés. C'est ainsi qu'un cumul de secondes CPU devient une utilisation instantanée (ex : 1,9 cœur).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9360" y="48280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IPSSI · Big Data · Monitoring · 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</a:t>
            </a:r>
            <a:endParaRPr lang="en-US" sz="4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· CORRELATION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instruments, trois questions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615184" cy="3200400"/>
          </a:xfrm>
          <a:prstGeom prst="roundRect">
            <a:avLst>
              <a:gd name="adj" fmla="val 2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3258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UI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58368" y="171907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fait mon programme ?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214884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jobs, stages, tasks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et timeline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shufflés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:4040 · :18080 (historique)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19272" y="1143000"/>
            <a:ext cx="2615184" cy="3200400"/>
          </a:xfrm>
          <a:prstGeom prst="roundRect">
            <a:avLst>
              <a:gd name="adj" fmla="val 2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13258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520440" y="171907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fait ma machine ?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547872" y="214884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RAM, réseau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conteneur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comparable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:3000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81344" y="1143000"/>
            <a:ext cx="2615184" cy="3200400"/>
          </a:xfrm>
          <a:prstGeom prst="roundRect">
            <a:avLst>
              <a:gd name="adj" fmla="val 2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82512" y="13258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382512" y="171907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s'est-il passé ?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9944" y="214884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événements ligne à ligne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erreurs, tasks perdues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post-mortem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09360" y="48280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IPSSI · Big Data · Monitoring · 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· CORRELATION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Lire un run : le word count vu par Grafana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207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d'un executor pendant les 3 actions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2980944"/>
            <a:ext cx="347472" cy="173736"/>
          </a:xfrm>
          <a:prstGeom prst="rect">
            <a:avLst/>
          </a:prstGeom>
          <a:solidFill>
            <a:srgbClr val="D8E2EC"/>
          </a:solidFill>
          <a:ln/>
        </p:spPr>
      </p:sp>
      <p:sp>
        <p:nvSpPr>
          <p:cNvPr id="7" name="Shape 5"/>
          <p:cNvSpPr/>
          <p:nvPr/>
        </p:nvSpPr>
        <p:spPr>
          <a:xfrm>
            <a:off x="1234440" y="1851660"/>
            <a:ext cx="347472" cy="1303020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8" name="Shape 6"/>
          <p:cNvSpPr/>
          <p:nvPr/>
        </p:nvSpPr>
        <p:spPr>
          <a:xfrm>
            <a:off x="1691640" y="1677924"/>
            <a:ext cx="347472" cy="1476756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9" name="Shape 7"/>
          <p:cNvSpPr/>
          <p:nvPr/>
        </p:nvSpPr>
        <p:spPr>
          <a:xfrm>
            <a:off x="2148840" y="1634490"/>
            <a:ext cx="347472" cy="1520190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10" name="Shape 8"/>
          <p:cNvSpPr/>
          <p:nvPr/>
        </p:nvSpPr>
        <p:spPr>
          <a:xfrm>
            <a:off x="2606040" y="1677924"/>
            <a:ext cx="347472" cy="1476756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11" name="Shape 9"/>
          <p:cNvSpPr/>
          <p:nvPr/>
        </p:nvSpPr>
        <p:spPr>
          <a:xfrm>
            <a:off x="3063240" y="2720340"/>
            <a:ext cx="347472" cy="434340"/>
          </a:xfrm>
          <a:prstGeom prst="rect">
            <a:avLst/>
          </a:prstGeom>
          <a:solidFill>
            <a:srgbClr val="D8E2EC"/>
          </a:solidFill>
          <a:ln/>
        </p:spPr>
      </p:sp>
      <p:sp>
        <p:nvSpPr>
          <p:cNvPr id="12" name="Shape 10"/>
          <p:cNvSpPr/>
          <p:nvPr/>
        </p:nvSpPr>
        <p:spPr>
          <a:xfrm>
            <a:off x="3520440" y="1677924"/>
            <a:ext cx="347472" cy="1476756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13" name="Shape 11"/>
          <p:cNvSpPr/>
          <p:nvPr/>
        </p:nvSpPr>
        <p:spPr>
          <a:xfrm>
            <a:off x="3977640" y="1591056"/>
            <a:ext cx="347472" cy="1563624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14" name="Shape 12"/>
          <p:cNvSpPr/>
          <p:nvPr/>
        </p:nvSpPr>
        <p:spPr>
          <a:xfrm>
            <a:off x="4434840" y="1634490"/>
            <a:ext cx="347472" cy="1520190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15" name="Shape 13"/>
          <p:cNvSpPr/>
          <p:nvPr/>
        </p:nvSpPr>
        <p:spPr>
          <a:xfrm>
            <a:off x="4892040" y="1677924"/>
            <a:ext cx="347472" cy="1476756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16" name="Shape 14"/>
          <p:cNvSpPr/>
          <p:nvPr/>
        </p:nvSpPr>
        <p:spPr>
          <a:xfrm>
            <a:off x="5349240" y="2894076"/>
            <a:ext cx="347472" cy="260604"/>
          </a:xfrm>
          <a:prstGeom prst="rect">
            <a:avLst/>
          </a:prstGeom>
          <a:solidFill>
            <a:srgbClr val="D8E2EC"/>
          </a:solidFill>
          <a:ln/>
        </p:spPr>
      </p:sp>
      <p:sp>
        <p:nvSpPr>
          <p:cNvPr id="17" name="Shape 15"/>
          <p:cNvSpPr/>
          <p:nvPr/>
        </p:nvSpPr>
        <p:spPr>
          <a:xfrm>
            <a:off x="5806440" y="2980944"/>
            <a:ext cx="347472" cy="173736"/>
          </a:xfrm>
          <a:prstGeom prst="rect">
            <a:avLst/>
          </a:prstGeom>
          <a:solidFill>
            <a:srgbClr val="D8E2EC"/>
          </a:solidFill>
          <a:ln/>
        </p:spPr>
      </p:sp>
      <p:sp>
        <p:nvSpPr>
          <p:cNvPr id="18" name="Shape 16"/>
          <p:cNvSpPr/>
          <p:nvPr/>
        </p:nvSpPr>
        <p:spPr>
          <a:xfrm>
            <a:off x="6263640" y="1764792"/>
            <a:ext cx="347472" cy="1389888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19" name="Shape 17"/>
          <p:cNvSpPr/>
          <p:nvPr/>
        </p:nvSpPr>
        <p:spPr>
          <a:xfrm>
            <a:off x="6720840" y="1634490"/>
            <a:ext cx="347472" cy="1520190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20" name="Shape 18"/>
          <p:cNvSpPr/>
          <p:nvPr/>
        </p:nvSpPr>
        <p:spPr>
          <a:xfrm>
            <a:off x="7178040" y="1677924"/>
            <a:ext cx="347472" cy="1476756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21" name="Shape 19"/>
          <p:cNvSpPr/>
          <p:nvPr/>
        </p:nvSpPr>
        <p:spPr>
          <a:xfrm>
            <a:off x="7635240" y="1721358"/>
            <a:ext cx="347472" cy="1433322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22" name="Shape 20"/>
          <p:cNvSpPr/>
          <p:nvPr/>
        </p:nvSpPr>
        <p:spPr>
          <a:xfrm>
            <a:off x="8092440" y="2937510"/>
            <a:ext cx="347472" cy="217170"/>
          </a:xfrm>
          <a:prstGeom prst="rect">
            <a:avLst/>
          </a:prstGeom>
          <a:solidFill>
            <a:srgbClr val="D8E2EC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32461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017520" y="32461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collect() + shuffle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943600" y="32461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write.csv()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37033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bosses = les 3 actions du word count : chaque action relit les 100 fichiers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creux = le driver planifie, seul : les executors attendent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 à 2.0 = les 2 cœurs de l'executor saturés : le job est limité par le CPU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309360" y="48280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IPSSI · Big Data · Monitoring · 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interfaces d'une stack Spark + monitoring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103120" y="1097280"/>
            <a:ext cx="4937760" cy="3383280"/>
          </a:xfrm>
          <a:prstGeom prst="roundRect">
            <a:avLst>
              <a:gd name="adj" fmla="val 18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331720" y="1325880"/>
            <a:ext cx="4480560" cy="2926080"/>
          </a:xfrm>
          <a:prstGeom prst="roundRect">
            <a:avLst>
              <a:gd name="adj" fmla="val 1875"/>
            </a:avLst>
          </a:prstGeom>
          <a:solidFill>
            <a:srgbClr val="10192E"/>
          </a:solidFill>
          <a:ln/>
        </p:spPr>
      </p:sp>
      <p:sp>
        <p:nvSpPr>
          <p:cNvPr id="6" name="Text 4"/>
          <p:cNvSpPr/>
          <p:nvPr/>
        </p:nvSpPr>
        <p:spPr>
          <a:xfrm>
            <a:off x="2496312" y="1417320"/>
            <a:ext cx="415137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:8080    master Spark</a:t>
            </a:r>
            <a:endParaRPr lang="en-US" sz="1300" dirty="0"/>
          </a:p>
          <a:p>
            <a:pPr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:4040    Spark UI (application en cours)</a:t>
            </a:r>
            <a:endParaRPr lang="en-US" sz="1300" dirty="0"/>
          </a:p>
          <a:p>
            <a:pPr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:18080   History Server (terminées)</a:t>
            </a:r>
            <a:endParaRPr lang="en-US" sz="1300" dirty="0"/>
          </a:p>
          <a:p>
            <a:pPr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:9090    Prometheus</a:t>
            </a:r>
            <a:endParaRPr lang="en-US" sz="1300" dirty="0"/>
          </a:p>
          <a:p>
            <a:pPr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:3000    Grafana</a:t>
            </a:r>
            <a:endParaRPr lang="en-US" sz="1300" dirty="0"/>
          </a:p>
          <a:p>
            <a:pPr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:8085    cAdvisor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9360" y="48280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IPSSI · Big Data · Monitoring · 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4F438100BF5C4BAF5604C0CD9FC05B" ma:contentTypeVersion="12" ma:contentTypeDescription="Create a new document." ma:contentTypeScope="" ma:versionID="2b366bfdf61ab0b9a896755f50227fd5">
  <xsd:schema xmlns:xsd="http://www.w3.org/2001/XMLSchema" xmlns:xs="http://www.w3.org/2001/XMLSchema" xmlns:p="http://schemas.microsoft.com/office/2006/metadata/properties" xmlns:ns2="5a8af27d-ac1e-4671-a004-17da3e17537e" xmlns:ns3="0266ae1a-7999-4d43-8517-0a23df42864b" targetNamespace="http://schemas.microsoft.com/office/2006/metadata/properties" ma:root="true" ma:fieldsID="7d0069528b26ff46290e23de58e795da" ns2:_="" ns3:_="">
    <xsd:import namespace="5a8af27d-ac1e-4671-a004-17da3e17537e"/>
    <xsd:import namespace="0266ae1a-7999-4d43-8517-0a23df42864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8af27d-ac1e-4671-a004-17da3e17537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a567f5d5-0c03-422f-bbbb-479e45a2137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66ae1a-7999-4d43-8517-0a23df42864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69dc905-bdd8-4546-b697-3e1874519366}" ma:internalName="TaxCatchAll" ma:showField="CatchAllData" ma:web="0266ae1a-7999-4d43-8517-0a23df42864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266ae1a-7999-4d43-8517-0a23df42864b" xsi:nil="true"/>
    <lcf76f155ced4ddcb4097134ff3c332f xmlns="5a8af27d-ac1e-4671-a004-17da3e17537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B089FE8-3EE0-4B55-B647-795ADC69F91E}"/>
</file>

<file path=customXml/itemProps2.xml><?xml version="1.0" encoding="utf-8"?>
<ds:datastoreItem xmlns:ds="http://schemas.openxmlformats.org/officeDocument/2006/customXml" ds:itemID="{E0E888B7-DFAA-4220-AFFF-65460B17ED11}"/>
</file>

<file path=customXml/itemProps3.xml><?xml version="1.0" encoding="utf-8"?>
<ds:datastoreItem xmlns:ds="http://schemas.openxmlformats.org/officeDocument/2006/customXml" ds:itemID="{13BA69A1-5DA6-4074-B2B4-F06F900A510C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 &amp; Monitoring</dc:title>
  <dc:subject>PptxGenJS Presentation</dc:subject>
  <dc:creator>IPSSI · Big Data</dc:creator>
  <cp:lastModifiedBy>IPSSI · Big Data</cp:lastModifiedBy>
  <cp:revision>1</cp:revision>
  <dcterms:created xsi:type="dcterms:W3CDTF">2026-07-05T23:14:24Z</dcterms:created>
  <dcterms:modified xsi:type="dcterms:W3CDTF">2026-07-05T23:14:24Z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0x010100D74F438100BF5C4BAF5604C0CD9FC05B</vt:lpwstr>
  </property>
</Properties>
</file>